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6FA0"/>
          </a:solidFill>
          <a:ln w="12700">
            <a:solidFill>
              <a:srgbClr val="0D6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869180"/>
            <a:ext cx="8823960" cy="27432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CAPTEUR SOJI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2926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Surveillance du Niveau de Carburant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417320" cy="365760"/>
          </a:xfrm>
          <a:prstGeom prst="rect">
            <a:avLst/>
          </a:prstGeom>
          <a:solidFill>
            <a:srgbClr val="243552"/>
          </a:solidFill>
          <a:ln w="9525">
            <a:solidFill>
              <a:srgbClr val="0A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ESP32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67128" y="3383280"/>
            <a:ext cx="1417320" cy="365760"/>
          </a:xfrm>
          <a:prstGeom prst="rect">
            <a:avLst/>
          </a:prstGeom>
          <a:solidFill>
            <a:srgbClr val="243552"/>
          </a:solidFill>
          <a:ln w="9525">
            <a:solidFill>
              <a:srgbClr val="0A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RS-485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9896" y="3383280"/>
            <a:ext cx="1417320" cy="365760"/>
          </a:xfrm>
          <a:prstGeom prst="rect">
            <a:avLst/>
          </a:prstGeom>
          <a:solidFill>
            <a:srgbClr val="243552"/>
          </a:solidFill>
          <a:ln w="9525">
            <a:solidFill>
              <a:srgbClr val="0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4G LTE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12664" y="3383280"/>
            <a:ext cx="1417320" cy="365760"/>
          </a:xfrm>
          <a:prstGeom prst="rect">
            <a:avLst/>
          </a:prstGeom>
          <a:solidFill>
            <a:srgbClr val="243552"/>
          </a:solidFill>
          <a:ln w="9525">
            <a:solidFill>
              <a:srgbClr val="0A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MQTT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85432" y="3383280"/>
            <a:ext cx="1417320" cy="365760"/>
          </a:xfrm>
          <a:prstGeom prst="rect">
            <a:avLst/>
          </a:prstGeom>
          <a:solidFill>
            <a:srgbClr val="243552"/>
          </a:solidFill>
          <a:ln w="9525">
            <a:solidFill>
              <a:srgbClr val="0A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3383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FreeRTOS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SOJI IoT — Tous droits réservés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d'Ensemble — Architecture Système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7340" y="12618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baud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68980" y="12618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Cmds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0620" y="12618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TCP/MQTT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52260" y="12618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JSON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" y="1737360"/>
            <a:ext cx="153619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" y="1828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LIGO T54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2697480"/>
            <a:ext cx="1536192" cy="320040"/>
          </a:xfrm>
          <a:prstGeom prst="rect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6974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2354580"/>
            <a:ext cx="15544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2281428"/>
            <a:ext cx="9144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737360"/>
            <a:ext cx="1536192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12264" y="1828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12264" y="2697480"/>
            <a:ext cx="1536192" cy="320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12264" y="26974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48456" y="2354580"/>
            <a:ext cx="15544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281428"/>
            <a:ext cx="9144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1737360"/>
            <a:ext cx="1536192" cy="12801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1828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SIM7600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03904" y="2697480"/>
            <a:ext cx="1536192" cy="320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26974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LTE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0096" y="2354580"/>
            <a:ext cx="15544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281428"/>
            <a:ext cx="9144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95544" y="1737360"/>
            <a:ext cx="1536192" cy="12801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95544" y="1828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95544" y="2697480"/>
            <a:ext cx="1536192" cy="320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26974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31736" y="2354580"/>
            <a:ext cx="15544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95744" y="2281428"/>
            <a:ext cx="91440" cy="192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7184" y="1737360"/>
            <a:ext cx="1536192" cy="12801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87184" y="1828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87184" y="2697480"/>
            <a:ext cx="1536192" cy="320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7184" y="26974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RS-485 toutes les 30 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volume selon géométrie du réservoir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JSON via MQTT 4G LTE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SD si déconnexion — retry automatique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Composants Matériels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0584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252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 Principal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554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Dual-core Xtensa LX6 240 MHz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773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WiFi + Bluetooth intégré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ESP-IDF 5.x / FreeRTOS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9152" y="1554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40 GPIO, ADC, SPI, UART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9152" y="17739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Partitions OTA + NVS + SPIFFS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686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0058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13248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LIGO T54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13248" y="1252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RS-485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1554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Niveau: 0–65535 (digital)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032" y="1773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Température: -40°C à +100°C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8032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Fréquence: 0–10000 Hz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48272" y="1554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Protocol: 5 bytes cmd / 9 bytes rsp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48272" y="17739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Timeout réponse: 2000 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578608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578608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715768"/>
            <a:ext cx="475488" cy="475488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4128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SIM7600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4128" y="29626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4G LTE + GPS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264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4G LTE / 3G / 2G fallback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" y="34838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GPS / GLONASS intégré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37033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MQTT, HTTP, TCP/IP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59152" y="3264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Commandes AT standard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59152" y="34838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Synchronisation NTP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578608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578608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2715768"/>
            <a:ext cx="475488" cy="47548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13248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(SPI)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13248" y="29626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3264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Bus SPI à 4 MHz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28032" y="34838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MOSI=GPIO15, MISO=GPIO2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37033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CLK=GPIO14, CS=GPIO13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48272" y="3264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Sauvegarde trames MQTT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48272" y="34838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Retry automatique au reconnect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Capteur LIGO T54 — Protocole RS-485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Commande (5 octets)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713232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179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07008" y="1298448"/>
            <a:ext cx="713232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1298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07008" y="15179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956816" y="1298448"/>
            <a:ext cx="713232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1298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56816" y="15179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06624" y="1298448"/>
            <a:ext cx="713232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6624" y="1298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06624" y="15179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456432" y="1298448"/>
            <a:ext cx="713232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298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56432" y="15179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1719072"/>
            <a:ext cx="3730752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7373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CRC-8 (0x31 + ADDR + 0x06 + 0x00)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6888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Réponse (9 octets)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" y="2852928"/>
            <a:ext cx="411480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81812" y="2852928"/>
            <a:ext cx="411480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181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16152" y="2852928"/>
            <a:ext cx="411480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615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1615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650492" y="2852928"/>
            <a:ext cx="411480" cy="38404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5049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5049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084832" y="2852928"/>
            <a:ext cx="411480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8483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LVL_L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8483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519172" y="2852928"/>
            <a:ext cx="411480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917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LVL_H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1917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953512" y="2852928"/>
            <a:ext cx="41148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FRQ_L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95351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Fréq.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387852" y="2852928"/>
            <a:ext cx="41148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785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FRQ_H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38785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822192" y="2852928"/>
            <a:ext cx="41148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22192" y="28529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CRC8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822192" y="30723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57200" y="33101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réponse: 2000 ms  |  Half-duplex (DE/RE GPIO32 control)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1605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4160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mesurés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4443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Niveau: 0–65535 dig.  |  Temp: -40°C à +100°C  |  Fréquence: 0–10000 Hz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0" y="9144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Interfaçage GPIO — ESP32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54880" y="12984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TX: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63640" y="1298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54880" y="14813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RX: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63640" y="1481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54880" y="1664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/ RE: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63640" y="16642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54880" y="18470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63640" y="18470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754880" y="2029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63640" y="20299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8N1, Half-duplex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0" y="2423160"/>
            <a:ext cx="4297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572000" y="242316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Chronogramme Communication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66344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TX: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532120" y="2834640"/>
            <a:ext cx="1005840" cy="201168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3212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 bytes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537960" y="2916936"/>
            <a:ext cx="2103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3154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DE/RE: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532120" y="3154680"/>
            <a:ext cx="10058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3212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332"/>
                </a:solidFill>
              </a:rPr>
              <a:t>TX MODE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537960" y="3154680"/>
            <a:ext cx="210312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F46"/>
                </a:solidFill>
              </a:rPr>
              <a:t>RX MODE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663440" y="3474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RX: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532120" y="3474720"/>
            <a:ext cx="10058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75120" y="3474720"/>
            <a:ext cx="1371600" cy="201168"/>
          </a:xfrm>
          <a:prstGeom prst="rect">
            <a:avLst/>
          </a:prstGeom>
          <a:solidFill>
            <a:srgbClr val="F3E8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512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9 bytes réponse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440680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5.2 ms →                 ← Timeout 2000 ms →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572000" y="41605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4572000" y="4160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4206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Batterie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754880" y="4443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GPIO39 — Canal 7  |  Plage: 2500–4300 mV  |  Moyenne sur 8 échantillons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Modem SIM7600 — 4G LTE &amp; GPS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3327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LTE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4G LTE Cat-4 (principal)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7282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3G WCDMA (fallback)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7510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2G EDGE (fallback)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221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Bande mondiale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86868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86868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03327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68496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GNSS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48132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GPS + GLONASS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7282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Latitude + Longitude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197510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Altitude + Vitesse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221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Précision ≤ 2.5 m CEP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86868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86868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10332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12864" y="9784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148132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NTP via modem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17282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UTC timestamp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197510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Calibration horloge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2221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RTC interne ESP32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8595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8346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AT Principales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21868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AT+CMQTTSTART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48840" y="32186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client MQTT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40156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401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AT+CMQTTACCQ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48840" y="34015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Acquérir un client MQTT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58444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584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AT+CMQTTCONNECT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48840" y="35844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au broker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76732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67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AT+CMQTTPAYLOAD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48840" y="37673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payload JSON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321868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AT+CMQTTPUB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63640" y="32186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 message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340156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401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AT+CGPSINFO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63640" y="3401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coordonnées GPS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0" y="358444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3584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AT+CSNTPSTART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63640" y="3584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NTP sync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0" y="3767328"/>
            <a:ext cx="164592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3767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AT+CCLK?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63640" y="37673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l'heure système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74320" y="411480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supportés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42316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v3.1.1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47472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2628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7784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62940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80960" y="4187952"/>
            <a:ext cx="960120" cy="274320"/>
          </a:xfrm>
          <a:prstGeom prst="rect">
            <a:avLst/>
          </a:prstGeom>
          <a:solidFill>
            <a:srgbClr val="E0F2FE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80960" y="4187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 de Données — Pipeline de Traitement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153619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135331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353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9659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24231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cmd → LIGO T54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" y="27157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9 octets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" y="300837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2000 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01368" y="2537460"/>
            <a:ext cx="14630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248" y="1188720"/>
            <a:ext cx="1536192" cy="2743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35331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353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84248" y="19659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24231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Vérif. CRC-8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7157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Plausibilité valeurs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300837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champs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57016" y="2537460"/>
            <a:ext cx="14630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9896" y="1188720"/>
            <a:ext cx="1536192" cy="27432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35331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353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39896" y="19659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Volume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3048" y="24231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géométries réservoir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13048" y="27157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→ Volume (L)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13048" y="300837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12664" y="2537460"/>
            <a:ext cx="14630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5544" y="1188720"/>
            <a:ext cx="1536192" cy="274320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07608" y="135331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1353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95544" y="19659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24231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Assemblage télémétrie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68696" y="27157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NTP/UTC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68696" y="300837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batterie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68312" y="2537460"/>
            <a:ext cx="14630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51192" y="1188720"/>
            <a:ext cx="1536192" cy="2743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63256" y="1353312"/>
            <a:ext cx="512064" cy="5120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63256" y="1353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51192" y="19659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SD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24344" y="24231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MQTT 4G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24344" y="271576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échec → SD card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24344" y="300837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 dès reconnect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114800"/>
            <a:ext cx="86868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E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60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perte 4G, chaque trame est sauvegardée sur carte SD. Au retour de la connectivité, le système rejoue automatiquement toutes les trames en attente dans l'ordre chronologique.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 de Volume — 8 Types de Réservoirs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996696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96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8686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978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Rectangulaire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" y="1453896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45389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L × W × H × 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86868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77440" y="86868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5456" y="996696"/>
            <a:ext cx="402336" cy="402336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996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23360" y="8686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978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Cylindre Vertical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05456" y="1453896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145389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 × r² × H × 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86868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86868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996696"/>
            <a:ext cx="402336" cy="402336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996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8686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978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Cylindre Horizontal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1453896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145389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Segment circ. × 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86868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83680" y="86868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11696" y="99669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996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8686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978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Cône Vertical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11696" y="1453896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145389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⅓ × π × r² × H × f³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17627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176272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2304288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920240" y="2176272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8680" y="2286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 Verticale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02336" y="2761488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276148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 × a × b × H × f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217627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377440" y="2176272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05456" y="2304288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05456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971800" y="2286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Sphère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05456" y="2761488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05456" y="276148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 × h²(3r-h) / 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80560" y="217627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480560" y="2176272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08576" y="2304288"/>
            <a:ext cx="402336" cy="402336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08576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26480" y="2176272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74920" y="2286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08576" y="2761488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08576" y="276148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Calotte + Cylindre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583680" y="217627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83680" y="2176272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11696" y="2304288"/>
            <a:ext cx="402336" cy="40233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11696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229600" y="2176272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8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178040" y="2286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11696" y="2761488"/>
            <a:ext cx="166420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11696" y="276148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Σ sections (max 8)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3346704"/>
            <a:ext cx="85953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74320" y="3346704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d'implémentation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 = facteur de remplissage (niveau_raw / 65535), valeur normalisée 0.0 → 1.0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Cylindre horizontal: intégration numérique de segment circulaire, précision ≤ 0.1%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 multi-sections: jusqu'à 8 sections de hauteurs et géométries différentes — somme des volumes partiels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Toutes les formules utilisent des doubles IEEE 754 64-bit pour la précision maximale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MQTT — Protocole &amp; Payload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73152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Topics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298448"/>
            <a:ext cx="2816352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298448"/>
            <a:ext cx="2816352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device/{ORG}/{MAC}/telemetry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664208"/>
            <a:ext cx="2816352" cy="256032"/>
          </a:xfrm>
          <a:prstGeom prst="rect">
            <a:avLst/>
          </a:prstGeom>
          <a:solidFill>
            <a:srgbClr val="E0F2FE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6642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device/{ORG}/{MAC}/config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2029968"/>
            <a:ext cx="2816352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029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device/{ORG}/{MAC}/status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42032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MQTT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2907792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(at least once)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081528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081528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255264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3255264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{"status":"offline"}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429000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3429000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 du dispositif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Distante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0050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Intervalle d'acquisition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1833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Paramètres réservoir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3616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Seuils d'alerte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5399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Activation GPS / SD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1830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Redémarrage OTA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896112"/>
            <a:ext cx="4297680" cy="3995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896112"/>
            <a:ext cx="73152" cy="3995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941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JSON — Télémétrie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1280160"/>
            <a:ext cx="397764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33502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28032" y="1534363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"device_id":   "AA:BB:CC:DD:EE:FF",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28032" y="173370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"firmware":    "v1.0.0",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8032" y="193304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  "2026-03-31T14:22:00Z",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28032" y="2132381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"level_raw":   42500,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8032" y="23317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"level_pct":   64.8,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28032" y="2531059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"volume_l":    1280.5,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28032" y="273039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"temperature": 22.4,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292973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"frequency":   4800.0,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28032" y="3129077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"battery_mv":  3850,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332841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"rssi":        -72,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3527755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"gps": {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372709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"lat": 36.7525,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28032" y="392643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"lon": 3.0422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28032" y="4125773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43251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Stockage &amp; Fiabilité du Système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60704"/>
            <a:ext cx="475488" cy="47548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SD Card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Chaque trame MQTT échouée → microSD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Format: fichier JSON line-delimited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Persistance à travers les redémarrages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96112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96112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06070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13248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Automatique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Détection reconnexion 4G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975104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Replay des trames en attente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395728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Ordre chronologique garanti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22783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3191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 Flash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21608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24 KB partition dédiée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42232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Configuration persistante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62856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Préservée lors des OTA updates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632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22783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3191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Update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3721608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Deux slots OTA (1.25 MB chacun)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142232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Mise à jour sans interruption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562856"/>
            <a:ext cx="3767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Rollback automatique si erreur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Partitionnement Flash ESP32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06731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051" y="960120"/>
            <a:ext cx="303366" cy="1097280"/>
          </a:xfrm>
          <a:prstGeom prst="rect">
            <a:avLst/>
          </a:prstGeom>
          <a:solidFill>
            <a:srgbClr val="9F12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417" y="960120"/>
            <a:ext cx="1415706" cy="109728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4417" y="1188720"/>
            <a:ext cx="1415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4417" y="1554480"/>
            <a:ext cx="141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0123" y="960120"/>
            <a:ext cx="1820194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0123" y="1188720"/>
            <a:ext cx="1820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Slot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0123" y="1554480"/>
            <a:ext cx="1820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MB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0317" y="960120"/>
            <a:ext cx="1820194" cy="109728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0317" y="1188720"/>
            <a:ext cx="1820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Slot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20317" y="1554480"/>
            <a:ext cx="1820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MB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0511" y="960120"/>
            <a:ext cx="2022438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0511" y="1188720"/>
            <a:ext cx="20224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0511" y="1554480"/>
            <a:ext cx="2022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1.375 MB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62949" y="960120"/>
            <a:ext cx="606731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305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397880" y="21305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0x10000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4320" y="213055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totale: 4 MB (ESP32 standard)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20116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2316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 — 24 KB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761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Stockage clé-valeur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Config WiFi, MQTT, réservoir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 esp_nvs_flash_init()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95728" y="2423160"/>
            <a:ext cx="20116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95728" y="2423160"/>
            <a:ext cx="20116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5728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Slots — 1.25 MB ×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87168" y="2761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Mise à jour à distance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87168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Swap après validation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87168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esp_ota_ops.h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17136" y="2423160"/>
            <a:ext cx="20116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17136" y="2423160"/>
            <a:ext cx="201168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17136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 — 1.375 MB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08576" y="2761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Système de fichiers embarqué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08576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Logs, config JSON, SD buffer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08576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esp_spiffs_conf API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38544" y="2423160"/>
            <a:ext cx="20116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38544" y="2423160"/>
            <a:ext cx="201168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Process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9984" y="2761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1. Download MQTT/HTTP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9984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2. Écriture slot inactif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9984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3. Validation + reboot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406908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114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OTA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60020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MQTT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70632" y="4315968"/>
            <a:ext cx="109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8036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036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chunk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50792" y="4315968"/>
            <a:ext cx="109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052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slot OTA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30952" y="4315968"/>
            <a:ext cx="109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068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068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SHA256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611112" y="4315968"/>
            <a:ext cx="109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2084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boot partition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91272" y="4315968"/>
            <a:ext cx="10972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01000" y="4160520"/>
            <a:ext cx="117043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A5C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01000" y="4160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 → Nouveau FW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Outil de Test — Simulateur RS-485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73152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GUI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Tkinter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093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GUI standard Python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Simulation du protocole RS-485 LIGO T54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357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 Esclave: répond aux commandes ESP32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 Maître: envoie des commandes de 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300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Calcul CRC-8 automatique (polynomial 0x31)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Affichage hex/ASCII des trames en temps réel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244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Injection de valeurs personnalisées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 des échanges avec horodatage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187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Simulation de timeouts et d'erreurs CRC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896112"/>
            <a:ext cx="42976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896112"/>
            <a:ext cx="42976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95097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950976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95097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9144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RS-485 SOJI — v1.0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170432"/>
            <a:ext cx="4297680" cy="363931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34440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Mode: ESCLAVE | Port: COM3 | 9600,8N1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0" y="1431036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162763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[14:22:01] RX ← 31 01 06 00 2F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1824228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Commande valide | ADDR=0x01 | CRC OK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202082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[14:22:01] TX → 3E 01 06 16 A6 B1 C0 12 4A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3440" y="2217420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Niveau: 45494 | Temp: 22.4°C | Fréq: 4928 Hz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2414016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261061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[14:22:31] RX ← 31 01 06 00 2F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2807208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Commande valide | ADDR=0x01 | CRC OK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00380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[14:22:31] TX → 3E 01 06 16 A7 B1 C0 12 51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200400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Niveau: 45495 | Temp: 22.4°C | Fréq: 4929 Hz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3396996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3440" y="359359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[14:23:01] RX ← 31 01 06 00 2F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3790188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CRC ERROR injected (test mode)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3440" y="398678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response sent — timeout test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3440" y="4183380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3440" y="4379976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42 échanges | Erreurs: 1 | OK: 97.6%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0D6FA0"/>
          </a:solidFill>
          <a:ln w="12700">
            <a:solidFill>
              <a:srgbClr val="0D6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SOJI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Technique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FreeRTOS — architecture temps réel robuste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8600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LIGO T54 RS-485 — protocole trame CRC-8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65176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51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SIM7600 — 4G LTE + GPS + NTP intégré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géométries de réservoirs — calcul volumétrique précis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38328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JSON — télémétrie cloud en temps réel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74904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backup + retry — fiabilité garantie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548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— mises à jour firmware à distance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800600"/>
            <a:ext cx="8823960" cy="34290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974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SOJI IoT — Système de Surveillance du Niveau de Carburant  |  ESP32 · RS-485 · 4G LTE · MQTT  |  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SOJI – Capteur de Niveau de Carburant</dc:title>
  <dc:subject>PptxGenJS Presentation</dc:subject>
  <dc:creator>SOJI IoT</dc:creator>
  <cp:lastModifiedBy>SOJI IoT</cp:lastModifiedBy>
  <cp:revision>1</cp:revision>
  <dcterms:created xsi:type="dcterms:W3CDTF">2026-03-31T17:29:15Z</dcterms:created>
  <dcterms:modified xsi:type="dcterms:W3CDTF">2026-03-31T17:29:15Z</dcterms:modified>
</cp:coreProperties>
</file>