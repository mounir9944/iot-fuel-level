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E3A4C"/>
                </a:solidFill>
                <a:latin typeface="Arial"/>
              </a:defRPr>
            </a:pPr>
            <a:r>
              <a:rPr sz="1200" b="0" i="0" u="none" strike="noStrike">
                <a:solidFill>
                  <a:srgbClr val="1E3A4C"/>
                </a:solidFill>
                <a:latin typeface="Arial"/>
              </a:rPr>
              <a:t>Monthly Fuel Consumption (Litres)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Fuel Consumed (L)</c:v>
                </c:pt>
              </c:strCache>
            </c:strRef>
          </c:tx>
          <c:spPr>
            <a:solidFill>
              <a:srgbClr val="065A8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E3A4C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May</c:v>
                  </c:pt>
                  <c:pt idx="5">
                    <c:v>Jun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12400</c:v>
                </c:pt>
                <c:pt idx="1">
                  <c:v>11800</c:v>
                </c:pt>
                <c:pt idx="2">
                  <c:v>13200</c:v>
                </c:pt>
                <c:pt idx="3">
                  <c:v>12900</c:v>
                </c:pt>
                <c:pt idx="4">
                  <c:v>14100</c:v>
                </c:pt>
                <c:pt idx="5">
                  <c:v>13500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1E3A4C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21B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1097280"/>
            <a:ext cx="91440" cy="292608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217920" y="-274320"/>
            <a:ext cx="3200400" cy="3200400"/>
          </a:xfrm>
          <a:prstGeom prst="ellipse">
            <a:avLst/>
          </a:prstGeom>
          <a:solidFill>
            <a:srgbClr val="065A82">
              <a:alpha val="40000"/>
            </a:srgbClr>
          </a:solidFill>
          <a:ln w="12700">
            <a:solidFill>
              <a:srgbClr val="065A82">
                <a:alpha val="4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132320" y="1645920"/>
            <a:ext cx="2011680" cy="2011680"/>
          </a:xfrm>
          <a:prstGeom prst="ellipse">
            <a:avLst/>
          </a:prstGeom>
          <a:solidFill>
            <a:srgbClr val="02C39A">
              <a:alpha val="25000"/>
            </a:srgbClr>
          </a:solidFill>
          <a:ln w="12700">
            <a:solidFill>
              <a:srgbClr val="02C39A">
                <a:alpha val="25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188720"/>
            <a:ext cx="6858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spc="6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SMART-GRIDIX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822960" y="2286000"/>
            <a:ext cx="6858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A8D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Intelligent Fuel &amp; Tank Management Platform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822960" y="301752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Monitor.  Control.  Optimize.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8D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  ·  Real-Time Monitoring  ·  Multi-Platform  ·  Smart Analytics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F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21B2C"/>
          </a:solidFill>
          <a:ln w="12700">
            <a:solidFill>
              <a:srgbClr val="021B2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CHALLENGE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0"/>
            <a:ext cx="8229600" cy="960120"/>
          </a:xfrm>
          <a:prstGeom prst="rect">
            <a:avLst/>
          </a:prstGeom>
          <a:noFill/>
          <a:ln/>
        </p:spPr>
        <p:txBody>
          <a:bodyPr wrap="square" lIns="203200" tIns="203200" rIns="203200" bIns="20320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pain points driving inefficiency and loss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20040" y="1143000"/>
            <a:ext cx="4114800" cy="1600200"/>
          </a:xfrm>
          <a:prstGeom prst="rect">
            <a:avLst/>
          </a:prstGeom>
          <a:solidFill>
            <a:srgbClr val="FFFFFF"/>
          </a:solidFill>
          <a:ln w="15240">
            <a:solidFill>
              <a:srgbClr val="DBEAFE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143000"/>
            <a:ext cx="73152" cy="16002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21208" y="1554480"/>
            <a:ext cx="594360" cy="594360"/>
          </a:xfrm>
          <a:prstGeom prst="ellipse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21208" y="155448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⛽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234440" y="1399032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3A4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Fuel Theft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234440" y="1764792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Undetected pilferage accounts for up to 15% of fuel losses across industrial sites.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663440" y="1143000"/>
            <a:ext cx="4114800" cy="1600200"/>
          </a:xfrm>
          <a:prstGeom prst="rect">
            <a:avLst/>
          </a:prstGeom>
          <a:solidFill>
            <a:srgbClr val="FFFFFF"/>
          </a:solidFill>
          <a:ln w="15240">
            <a:solidFill>
              <a:srgbClr val="DBEAFE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663440" y="1143000"/>
            <a:ext cx="73152" cy="16002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864608" y="1554480"/>
            <a:ext cx="594360" cy="594360"/>
          </a:xfrm>
          <a:prstGeom prst="ellipse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64608" y="155448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📋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5577840" y="1399032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3A4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Manual Errors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5577840" y="1764792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Paper-based monitoring creates data gaps, human errors, and delayed decision-making.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20040" y="3017520"/>
            <a:ext cx="4114800" cy="1600200"/>
          </a:xfrm>
          <a:prstGeom prst="rect">
            <a:avLst/>
          </a:prstGeom>
          <a:solidFill>
            <a:srgbClr val="FFFFFF"/>
          </a:solidFill>
          <a:ln w="15240">
            <a:solidFill>
              <a:srgbClr val="DBEAFE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20040" y="3017520"/>
            <a:ext cx="73152" cy="16002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21208" y="3429000"/>
            <a:ext cx="594360" cy="594360"/>
          </a:xfrm>
          <a:prstGeom prst="ellipse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21208" y="342900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📡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234440" y="3273552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3A4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No Real-Time View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234440" y="3639312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Lack of live data means issues are discovered hours or days after they occur.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663440" y="3017520"/>
            <a:ext cx="4114800" cy="1600200"/>
          </a:xfrm>
          <a:prstGeom prst="rect">
            <a:avLst/>
          </a:prstGeom>
          <a:solidFill>
            <a:srgbClr val="FFFFFF"/>
          </a:solidFill>
          <a:ln w="15240">
            <a:solidFill>
              <a:srgbClr val="DBEAFE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663440" y="3017520"/>
            <a:ext cx="73152" cy="16002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864608" y="3429000"/>
            <a:ext cx="594360" cy="594360"/>
          </a:xfrm>
          <a:prstGeom prst="ellipse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64608" y="342900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💸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5577840" y="3273552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3A4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High Operational Cost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5577840" y="3639312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Inefficient dispatching and over-ordering inflate operating budgets unnecessarily.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754880" cy="5143500"/>
          </a:xfrm>
          <a:prstGeom prst="rect">
            <a:avLst/>
          </a:prstGeom>
          <a:solidFill>
            <a:srgbClr val="021B2C"/>
          </a:solidFill>
          <a:ln w="12700">
            <a:solidFill>
              <a:srgbClr val="021B2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4754880" cy="54864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320040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SOLUTION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65760" y="822960"/>
            <a:ext cx="4114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Smart-Gridix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365760" y="1691640"/>
            <a:ext cx="4023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8D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unified IoT platform that gives fuel &amp; tank operators complete real-time visibility, automated alerts, and actionable analytics — across every site, from any device.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65760" y="3200400"/>
            <a:ext cx="73152" cy="20116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66928" y="318211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1E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Connects sensors to cloud in under 2 seconds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65760" y="3547872"/>
            <a:ext cx="73152" cy="20116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66928" y="3529584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1E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on web, iOS, and Android simultaneously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65760" y="3895344"/>
            <a:ext cx="73152" cy="20116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3877056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1E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Reduces fuel loss through automated theft detection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65760" y="4242816"/>
            <a:ext cx="73152" cy="20116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66928" y="422452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1E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Scales from 1 site to enterprise-wide deployments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029200" y="457200"/>
            <a:ext cx="1828800" cy="1920240"/>
          </a:xfrm>
          <a:prstGeom prst="rect">
            <a:avLst/>
          </a:prstGeom>
          <a:solidFill>
            <a:srgbClr val="F0F9FF"/>
          </a:solidFill>
          <a:ln w="12700">
            <a:solidFill>
              <a:srgbClr val="BFDBFE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029200" y="457200"/>
            <a:ext cx="1828800" cy="54864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0" y="640080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65A8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2s</a:t>
            </a:r>
            <a:endParaRPr lang="en-US" sz="4400" dirty="0"/>
          </a:p>
        </p:txBody>
      </p:sp>
      <p:sp>
        <p:nvSpPr>
          <p:cNvPr id="18" name="Text 16"/>
          <p:cNvSpPr/>
          <p:nvPr/>
        </p:nvSpPr>
        <p:spPr>
          <a:xfrm>
            <a:off x="5120640" y="141732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3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data latency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120640" y="1810512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MQTT real-time protocol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995160" y="457200"/>
            <a:ext cx="1828800" cy="1920240"/>
          </a:xfrm>
          <a:prstGeom prst="rect">
            <a:avLst/>
          </a:prstGeom>
          <a:solidFill>
            <a:srgbClr val="F0F9FF"/>
          </a:solidFill>
          <a:ln w="12700">
            <a:solidFill>
              <a:srgbClr val="BFDBFE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995160" y="457200"/>
            <a:ext cx="1828800" cy="54864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995160" y="640080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65A8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40%</a:t>
            </a:r>
            <a:endParaRPr lang="en-US" sz="4400" dirty="0"/>
          </a:p>
        </p:txBody>
      </p:sp>
      <p:sp>
        <p:nvSpPr>
          <p:cNvPr id="23" name="Text 21"/>
          <p:cNvSpPr/>
          <p:nvPr/>
        </p:nvSpPr>
        <p:spPr>
          <a:xfrm>
            <a:off x="7086600" y="141732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3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Reduction in fuel loss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7086600" y="1810512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client result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029200" y="2606040"/>
            <a:ext cx="1828800" cy="1920240"/>
          </a:xfrm>
          <a:prstGeom prst="rect">
            <a:avLst/>
          </a:prstGeom>
          <a:solidFill>
            <a:srgbClr val="F0F9FF"/>
          </a:solidFill>
          <a:ln w="12700">
            <a:solidFill>
              <a:srgbClr val="BFDBFE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5029200" y="2606040"/>
            <a:ext cx="1828800" cy="54864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029200" y="2788920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65A8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99.9%</a:t>
            </a:r>
            <a:endParaRPr lang="en-US" sz="3400" dirty="0"/>
          </a:p>
        </p:txBody>
      </p:sp>
      <p:sp>
        <p:nvSpPr>
          <p:cNvPr id="28" name="Text 26"/>
          <p:cNvSpPr/>
          <p:nvPr/>
        </p:nvSpPr>
        <p:spPr>
          <a:xfrm>
            <a:off x="5120640" y="356616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3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uptime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120640" y="3959352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SLA-backed reliability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995160" y="2606040"/>
            <a:ext cx="1828800" cy="1920240"/>
          </a:xfrm>
          <a:prstGeom prst="rect">
            <a:avLst/>
          </a:prstGeom>
          <a:solidFill>
            <a:srgbClr val="F0F9FF"/>
          </a:solidFill>
          <a:ln w="12700">
            <a:solidFill>
              <a:srgbClr val="BFDBFE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995160" y="2606040"/>
            <a:ext cx="1828800" cy="54864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995160" y="2788920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65A8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4400" dirty="0"/>
          </a:p>
        </p:txBody>
      </p:sp>
      <p:sp>
        <p:nvSpPr>
          <p:cNvPr id="33" name="Text 31"/>
          <p:cNvSpPr/>
          <p:nvPr/>
        </p:nvSpPr>
        <p:spPr>
          <a:xfrm>
            <a:off x="7086600" y="356616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3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Platforms supported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7086600" y="3959352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· iOS · Android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F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21B2C"/>
          </a:solidFill>
          <a:ln w="12700">
            <a:solidFill>
              <a:srgbClr val="021B2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CORE FEATURES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1051560"/>
            <a:ext cx="265176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051560"/>
            <a:ext cx="2651760" cy="64008"/>
          </a:xfrm>
          <a:prstGeom prst="rect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38912" y="1252728"/>
            <a:ext cx="530352" cy="530352"/>
          </a:xfrm>
          <a:prstGeom prst="ellipse">
            <a:avLst/>
          </a:prstGeom>
          <a:solidFill>
            <a:srgbClr val="0284C7">
              <a:alpha val="85000"/>
            </a:srgbClr>
          </a:solidFill>
          <a:ln w="12700">
            <a:solidFill>
              <a:srgbClr val="0284C7">
                <a:alpha val="6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38912" y="1252728"/>
            <a:ext cx="5303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📊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78992" y="1252728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4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Real-Time Monitoring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84048" y="1920240"/>
            <a:ext cx="2432304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tank levels and sensor data streamed via MQTT protocol.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46120" y="1051560"/>
            <a:ext cx="265176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46120" y="1051560"/>
            <a:ext cx="2651760" cy="6400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410712" y="1252728"/>
            <a:ext cx="530352" cy="530352"/>
          </a:xfrm>
          <a:prstGeom prst="ellipse">
            <a:avLst/>
          </a:prstGeom>
          <a:solidFill>
            <a:srgbClr val="059669">
              <a:alpha val="85000"/>
            </a:srgbClr>
          </a:solidFill>
          <a:ln w="12700">
            <a:solidFill>
              <a:srgbClr val="059669">
                <a:alpha val="6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10712" y="1252728"/>
            <a:ext cx="5303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🔔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050792" y="1252728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4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Smart Alerts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355848" y="1920240"/>
            <a:ext cx="2432304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notifications for low levels, leaks, and anomalies.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217920" y="1051560"/>
            <a:ext cx="265176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217920" y="1051560"/>
            <a:ext cx="2651760" cy="6400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382512" y="1252728"/>
            <a:ext cx="530352" cy="530352"/>
          </a:xfrm>
          <a:prstGeom prst="ellipse">
            <a:avLst/>
          </a:prstGeom>
          <a:solidFill>
            <a:srgbClr val="7C3AED">
              <a:alpha val="85000"/>
            </a:srgbClr>
          </a:solidFill>
          <a:ln w="12700">
            <a:solidFill>
              <a:srgbClr val="7C3AED">
                <a:alpha val="6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382512" y="1252728"/>
            <a:ext cx="5303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🗺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7022592" y="1252728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4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Interactive Maps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327648" y="1920240"/>
            <a:ext cx="2432304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Leaflet-powered maps with site markers and status overlays.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274320" y="2926080"/>
            <a:ext cx="265176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274320" y="2926080"/>
            <a:ext cx="2651760" cy="6400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38912" y="3127248"/>
            <a:ext cx="530352" cy="530352"/>
          </a:xfrm>
          <a:prstGeom prst="ellipse">
            <a:avLst/>
          </a:prstGeom>
          <a:solidFill>
            <a:srgbClr val="DC2626">
              <a:alpha val="85000"/>
            </a:srgbClr>
          </a:solidFill>
          <a:ln w="12700">
            <a:solidFill>
              <a:srgbClr val="DC2626">
                <a:alpha val="60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38912" y="3127248"/>
            <a:ext cx="5303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📈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1078992" y="3127248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4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Analytics &amp; Reports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84048" y="3794760"/>
            <a:ext cx="2432304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 charts, trends, and one-click PDF report export.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3246120" y="2926080"/>
            <a:ext cx="265176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3246120" y="2926080"/>
            <a:ext cx="2651760" cy="6400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410712" y="3127248"/>
            <a:ext cx="530352" cy="530352"/>
          </a:xfrm>
          <a:prstGeom prst="ellipse">
            <a:avLst/>
          </a:prstGeom>
          <a:solidFill>
            <a:srgbClr val="D97706">
              <a:alpha val="85000"/>
            </a:srgbClr>
          </a:solidFill>
          <a:ln w="12700">
            <a:solidFill>
              <a:srgbClr val="D97706">
                <a:alpha val="6000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410712" y="3127248"/>
            <a:ext cx="5303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📱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4050792" y="3127248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4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Multi-Platform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3355848" y="3794760"/>
            <a:ext cx="2432304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web dashboard plus Flutter apps for iOS &amp; Android.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6217920" y="2926080"/>
            <a:ext cx="265176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6217920" y="2926080"/>
            <a:ext cx="2651760" cy="6400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382512" y="3127248"/>
            <a:ext cx="530352" cy="530352"/>
          </a:xfrm>
          <a:prstGeom prst="ellipse">
            <a:avLst/>
          </a:prstGeom>
          <a:solidFill>
            <a:srgbClr val="065A82">
              <a:alpha val="85000"/>
            </a:srgbClr>
          </a:solidFill>
          <a:ln w="12700">
            <a:solidFill>
              <a:srgbClr val="065A82">
                <a:alpha val="6000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382512" y="3127248"/>
            <a:ext cx="5303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💳</a:t>
            </a:r>
            <a:endParaRPr lang="en-US" sz="1800" dirty="0"/>
          </a:p>
        </p:txBody>
      </p:sp>
      <p:sp>
        <p:nvSpPr>
          <p:cNvPr id="38" name="Text 36"/>
          <p:cNvSpPr/>
          <p:nvPr/>
        </p:nvSpPr>
        <p:spPr>
          <a:xfrm>
            <a:off x="7022592" y="3127248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4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Payment Integration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6327648" y="3794760"/>
            <a:ext cx="2432304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Stripe-powered billing with subscription tier management.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21B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PLATFORM ACCESS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80467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ecosystem. Three access points.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65760" y="1325880"/>
            <a:ext cx="2651760" cy="3520440"/>
          </a:xfrm>
          <a:prstGeom prst="rect">
            <a:avLst/>
          </a:prstGeom>
          <a:solidFill>
            <a:srgbClr val="065A82">
              <a:alpha val="45000"/>
            </a:srgbClr>
          </a:solidFill>
          <a:ln w="19050">
            <a:solidFill>
              <a:srgbClr val="0891B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325880"/>
            <a:ext cx="2651760" cy="6400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280160" y="1527048"/>
            <a:ext cx="822960" cy="822960"/>
          </a:xfrm>
          <a:prstGeom prst="ellipse">
            <a:avLst/>
          </a:prstGeom>
          <a:solidFill>
            <a:srgbClr val="0891B2">
              <a:alpha val="75000"/>
            </a:srgbClr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80160" y="1527048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🖥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475488" y="2478024"/>
            <a:ext cx="24323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Web Dashboard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75488" y="2898648"/>
            <a:ext cx="24323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14 + React 18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66928" y="3337560"/>
            <a:ext cx="91440" cy="91440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3291840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1E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admin control panel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66928" y="3611880"/>
            <a:ext cx="91440" cy="91440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31520" y="3566160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1E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charts (Recharts)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66928" y="3886200"/>
            <a:ext cx="91440" cy="91440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31520" y="3840480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1E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Leaflet maps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66928" y="4160520"/>
            <a:ext cx="91440" cy="91440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1520" y="4114800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1E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report generation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66928" y="4434840"/>
            <a:ext cx="91440" cy="91440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31520" y="4389120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1E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&amp; role management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200400" y="1325880"/>
            <a:ext cx="2651760" cy="3520440"/>
          </a:xfrm>
          <a:prstGeom prst="rect">
            <a:avLst/>
          </a:prstGeom>
          <a:solidFill>
            <a:srgbClr val="065A82">
              <a:alpha val="45000"/>
            </a:srgbClr>
          </a:solidFill>
          <a:ln w="19050">
            <a:solidFill>
              <a:srgbClr val="02C39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200400" y="1325880"/>
            <a:ext cx="2651760" cy="6400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114800" y="1527048"/>
            <a:ext cx="822960" cy="822960"/>
          </a:xfrm>
          <a:prstGeom prst="ellipse">
            <a:avLst/>
          </a:prstGeom>
          <a:solidFill>
            <a:srgbClr val="02C39A">
              <a:alpha val="75000"/>
            </a:srgbClr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114800" y="1527048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📱</a:t>
            </a:r>
            <a:endParaRPr lang="en-US" sz="2600" dirty="0"/>
          </a:p>
        </p:txBody>
      </p:sp>
      <p:sp>
        <p:nvSpPr>
          <p:cNvPr id="25" name="Text 23"/>
          <p:cNvSpPr/>
          <p:nvPr/>
        </p:nvSpPr>
        <p:spPr>
          <a:xfrm>
            <a:off x="3310128" y="2478024"/>
            <a:ext cx="24323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Mobile App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3310128" y="2898648"/>
            <a:ext cx="24323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Flutter (iOS &amp; Android)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3401568" y="3337560"/>
            <a:ext cx="91440" cy="9144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566160" y="3291840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1E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&amp; Lite versions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401568" y="3611880"/>
            <a:ext cx="91440" cy="9144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566160" y="3566160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1E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notifications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01568" y="3886200"/>
            <a:ext cx="91440" cy="9144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566160" y="3840480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1E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 Chart visualizations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3401568" y="4160520"/>
            <a:ext cx="91440" cy="9144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566160" y="4114800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1E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Offline-capable lite mode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3401568" y="4434840"/>
            <a:ext cx="91440" cy="9144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566160" y="4389120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1E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On-the-go monitoring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6035040" y="1325880"/>
            <a:ext cx="2651760" cy="3520440"/>
          </a:xfrm>
          <a:prstGeom prst="rect">
            <a:avLst/>
          </a:prstGeom>
          <a:solidFill>
            <a:srgbClr val="065A82">
              <a:alpha val="45000"/>
            </a:srgbClr>
          </a:solidFill>
          <a:ln w="19050">
            <a:solidFill>
              <a:srgbClr val="7C3AED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035040" y="1325880"/>
            <a:ext cx="2651760" cy="6400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949440" y="1527048"/>
            <a:ext cx="822960" cy="822960"/>
          </a:xfrm>
          <a:prstGeom prst="ellipse">
            <a:avLst/>
          </a:prstGeom>
          <a:solidFill>
            <a:srgbClr val="7C3AED">
              <a:alpha val="75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949440" y="1527048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🔌</a:t>
            </a:r>
            <a:endParaRPr lang="en-US" sz="2600" dirty="0"/>
          </a:p>
        </p:txBody>
      </p:sp>
      <p:sp>
        <p:nvSpPr>
          <p:cNvPr id="41" name="Text 39"/>
          <p:cNvSpPr/>
          <p:nvPr/>
        </p:nvSpPr>
        <p:spPr>
          <a:xfrm>
            <a:off x="6144768" y="2478024"/>
            <a:ext cx="24323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API Integration</a:t>
            </a:r>
            <a:endParaRPr lang="en-US" sz="1500" dirty="0"/>
          </a:p>
        </p:txBody>
      </p:sp>
      <p:sp>
        <p:nvSpPr>
          <p:cNvPr id="42" name="Text 40"/>
          <p:cNvSpPr/>
          <p:nvPr/>
        </p:nvSpPr>
        <p:spPr>
          <a:xfrm>
            <a:off x="6144768" y="2898648"/>
            <a:ext cx="24323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Express.js REST + MQTT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6236208" y="3337560"/>
            <a:ext cx="91440" cy="9144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400800" y="3291840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1E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JWT-secured endpoints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6236208" y="3611880"/>
            <a:ext cx="91440" cy="9144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400800" y="3566160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1E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MQTT IoT sensor bridge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6236208" y="3886200"/>
            <a:ext cx="91440" cy="9144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400800" y="3840480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1E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 data store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6236208" y="4160520"/>
            <a:ext cx="91440" cy="9144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400800" y="4114800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1E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Stripe webhook events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6236208" y="4434840"/>
            <a:ext cx="91440" cy="9144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400800" y="4389120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1E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Third-party connectors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0" cy="5143500"/>
          </a:xfrm>
          <a:prstGeom prst="rect">
            <a:avLst/>
          </a:prstGeom>
          <a:solidFill>
            <a:srgbClr val="021B2C"/>
          </a:solidFill>
          <a:ln w="12700">
            <a:solidFill>
              <a:srgbClr val="021B2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4114800" cy="54864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457200"/>
            <a:ext cx="3474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REAL-TIME</a:t>
            </a:r>
            <a:endParaRPr lang="en-US" sz="3000" dirty="0"/>
          </a:p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DASHBOARD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365760" y="1783080"/>
            <a:ext cx="347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8D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every tank and site from a single unified view — on any device, anywhere.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65760" y="2834640"/>
            <a:ext cx="73152" cy="2286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2816352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1E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🔴  Live tank level gauges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65760" y="3218688"/>
            <a:ext cx="73152" cy="2286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3200400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1E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🟢  Site operational status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65760" y="3602736"/>
            <a:ext cx="73152" cy="2286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3584448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1E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🔔  Active alert feed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65760" y="3986784"/>
            <a:ext cx="73152" cy="2286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3968496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1E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📍  GPS-mapped locations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65760" y="4370832"/>
            <a:ext cx="73152" cy="2286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4352544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1E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Consumption trends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389120" y="411480"/>
            <a:ext cx="2148840" cy="2011680"/>
          </a:xfrm>
          <a:prstGeom prst="rect">
            <a:avLst/>
          </a:prstGeom>
          <a:solidFill>
            <a:srgbClr val="F0F9FF"/>
          </a:solidFill>
          <a:ln w="12700">
            <a:solidFill>
              <a:srgbClr val="BFDBFE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389120" y="411480"/>
            <a:ext cx="2148840" cy="6400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389120" y="685800"/>
            <a:ext cx="2148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0891B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24</a:t>
            </a:r>
            <a:endParaRPr lang="en-US" sz="4600" dirty="0"/>
          </a:p>
        </p:txBody>
      </p:sp>
      <p:sp>
        <p:nvSpPr>
          <p:cNvPr id="19" name="Text 17"/>
          <p:cNvSpPr/>
          <p:nvPr/>
        </p:nvSpPr>
        <p:spPr>
          <a:xfrm>
            <a:off x="4480560" y="1527048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3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Sites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480560" y="187452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720840" y="411480"/>
            <a:ext cx="2148840" cy="2011680"/>
          </a:xfrm>
          <a:prstGeom prst="rect">
            <a:avLst/>
          </a:prstGeom>
          <a:solidFill>
            <a:srgbClr val="F0F9FF"/>
          </a:solidFill>
          <a:ln w="12700">
            <a:solidFill>
              <a:srgbClr val="BFDBFE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720840" y="411480"/>
            <a:ext cx="2148840" cy="6400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720840" y="685800"/>
            <a:ext cx="2148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02C39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73%</a:t>
            </a:r>
            <a:endParaRPr lang="en-US" sz="4600" dirty="0"/>
          </a:p>
        </p:txBody>
      </p:sp>
      <p:sp>
        <p:nvSpPr>
          <p:cNvPr id="24" name="Text 22"/>
          <p:cNvSpPr/>
          <p:nvPr/>
        </p:nvSpPr>
        <p:spPr>
          <a:xfrm>
            <a:off x="6812280" y="1527048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3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Tank Avg Level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812280" y="187452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capacity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389120" y="2651760"/>
            <a:ext cx="2148840" cy="2011680"/>
          </a:xfrm>
          <a:prstGeom prst="rect">
            <a:avLst/>
          </a:prstGeom>
          <a:solidFill>
            <a:srgbClr val="F0F9FF"/>
          </a:solidFill>
          <a:ln w="12700">
            <a:solidFill>
              <a:srgbClr val="BFDBFE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389120" y="2651760"/>
            <a:ext cx="2148840" cy="6400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389120" y="2926080"/>
            <a:ext cx="2148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EF444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4600" dirty="0"/>
          </a:p>
        </p:txBody>
      </p:sp>
      <p:sp>
        <p:nvSpPr>
          <p:cNvPr id="29" name="Text 27"/>
          <p:cNvSpPr/>
          <p:nvPr/>
        </p:nvSpPr>
        <p:spPr>
          <a:xfrm>
            <a:off x="4480560" y="3767328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3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Alerts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480560" y="411480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requires attention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6720840" y="2651760"/>
            <a:ext cx="2148840" cy="2011680"/>
          </a:xfrm>
          <a:prstGeom prst="rect">
            <a:avLst/>
          </a:prstGeom>
          <a:solidFill>
            <a:srgbClr val="F0F9FF"/>
          </a:solidFill>
          <a:ln w="12700">
            <a:solidFill>
              <a:srgbClr val="BFDBFE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6720840" y="2651760"/>
            <a:ext cx="2148840" cy="6400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720840" y="2926080"/>
            <a:ext cx="2148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7C3AE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&lt;2s</a:t>
            </a:r>
            <a:endParaRPr lang="en-US" sz="4600" dirty="0"/>
          </a:p>
        </p:txBody>
      </p:sp>
      <p:sp>
        <p:nvSpPr>
          <p:cNvPr id="34" name="Text 32"/>
          <p:cNvSpPr/>
          <p:nvPr/>
        </p:nvSpPr>
        <p:spPr>
          <a:xfrm>
            <a:off x="6812280" y="3767328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3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Refresh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6812280" y="411480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latency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F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21B2C"/>
          </a:solidFill>
          <a:ln w="12700">
            <a:solidFill>
              <a:srgbClr val="021B2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ANALYTICS &amp; REPORTING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lIns="177800" tIns="177800" rIns="177800" bIns="17780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raw sensor data into strategic insight</a:t>
            </a:r>
            <a:endParaRPr lang="en-US" sz="13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320040" y="1005840"/>
          <a:ext cx="5486400" cy="3611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6126480" y="1005840"/>
            <a:ext cx="274320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6126480" y="1005840"/>
            <a:ext cx="64008" cy="82296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291072" y="117043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📄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6839712" y="109728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4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PDF Export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6839712" y="1389888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One-click export of consumption reports, alerts, and site summaries.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6126480" y="2011680"/>
            <a:ext cx="274320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126480" y="2011680"/>
            <a:ext cx="64008" cy="82296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291072" y="217627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📅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6839712" y="210312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4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Historical Data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6839712" y="2395728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and compare data across any date range with trend overlays.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6126480" y="3017520"/>
            <a:ext cx="274320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6126480" y="3017520"/>
            <a:ext cx="64008" cy="82296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291072" y="318211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⚡</a:t>
            </a:r>
            <a:endParaRPr lang="en-US" sz="1800" dirty="0"/>
          </a:p>
        </p:txBody>
      </p:sp>
      <p:sp>
        <p:nvSpPr>
          <p:cNvPr id="19" name="Text 16"/>
          <p:cNvSpPr/>
          <p:nvPr/>
        </p:nvSpPr>
        <p:spPr>
          <a:xfrm>
            <a:off x="6839712" y="310896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4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Live Charts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6839712" y="3401568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Recharts (web) and FL Chart (mobile) render data in real time.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6126480" y="4023360"/>
            <a:ext cx="274320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6126480" y="4023360"/>
            <a:ext cx="64008" cy="82296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291072" y="418795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🎯</a:t>
            </a:r>
            <a:endParaRPr lang="en-US" sz="1800" dirty="0"/>
          </a:p>
        </p:txBody>
      </p:sp>
      <p:sp>
        <p:nvSpPr>
          <p:cNvPr id="24" name="Text 21"/>
          <p:cNvSpPr/>
          <p:nvPr/>
        </p:nvSpPr>
        <p:spPr>
          <a:xfrm>
            <a:off x="6839712" y="411480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4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KPI Dashboards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6839712" y="4407408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KPI panels for efficiency, loss rates, and site comparisons.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SECURITY &amp; SCALABILITY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20040" y="1097280"/>
            <a:ext cx="1965960" cy="3749040"/>
          </a:xfrm>
          <a:prstGeom prst="rect">
            <a:avLst/>
          </a:prstGeom>
          <a:solidFill>
            <a:srgbClr val="F0F9FF"/>
          </a:solidFill>
          <a:ln w="15240">
            <a:solidFill>
              <a:srgbClr val="DBEAFE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097280"/>
            <a:ext cx="1965960" cy="73152"/>
          </a:xfrm>
          <a:prstGeom prst="rect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18972" y="1298448"/>
            <a:ext cx="768096" cy="768096"/>
          </a:xfrm>
          <a:prstGeom prst="ellipse">
            <a:avLst/>
          </a:prstGeom>
          <a:solidFill>
            <a:srgbClr val="0284C7">
              <a:alpha val="80000"/>
            </a:srgbClr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8972" y="1298448"/>
            <a:ext cx="768096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🔑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411480" y="219456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3A4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JWT Authentication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02920" y="2880360"/>
            <a:ext cx="91440" cy="91440"/>
          </a:xfrm>
          <a:prstGeom prst="ellipse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67512" y="2834640"/>
            <a:ext cx="1508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3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Stateless token-based auth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02920" y="3300984"/>
            <a:ext cx="91440" cy="91440"/>
          </a:xfrm>
          <a:prstGeom prst="ellipse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67512" y="3255264"/>
            <a:ext cx="1508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3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expiry &amp; refresh flows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02920" y="3721608"/>
            <a:ext cx="91440" cy="91440"/>
          </a:xfrm>
          <a:prstGeom prst="ellipse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67512" y="3675888"/>
            <a:ext cx="1508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3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HTTPS transport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02920" y="4142232"/>
            <a:ext cx="91440" cy="91440"/>
          </a:xfrm>
          <a:prstGeom prst="ellipse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67512" y="4096512"/>
            <a:ext cx="1508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3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invalidation support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468880" y="1097280"/>
            <a:ext cx="1965960" cy="3749040"/>
          </a:xfrm>
          <a:prstGeom prst="rect">
            <a:avLst/>
          </a:prstGeom>
          <a:solidFill>
            <a:srgbClr val="F0F9FF"/>
          </a:solidFill>
          <a:ln w="15240">
            <a:solidFill>
              <a:srgbClr val="DBEAFE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2468880" y="1097280"/>
            <a:ext cx="1965960" cy="73152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067812" y="1298448"/>
            <a:ext cx="768096" cy="768096"/>
          </a:xfrm>
          <a:prstGeom prst="ellipse">
            <a:avLst/>
          </a:prstGeom>
          <a:solidFill>
            <a:srgbClr val="059669">
              <a:alpha val="80000"/>
            </a:srgbClr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067812" y="1298448"/>
            <a:ext cx="768096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👥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2560320" y="219456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3A4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Role-Based Access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2651760" y="2880360"/>
            <a:ext cx="91440" cy="91440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816352" y="2834640"/>
            <a:ext cx="1508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3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/ SuperAdmin tiers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2651760" y="3300984"/>
            <a:ext cx="91440" cy="91440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816352" y="3255264"/>
            <a:ext cx="1508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3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Granular permission scopes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2651760" y="3721608"/>
            <a:ext cx="91440" cy="91440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816352" y="3675888"/>
            <a:ext cx="1508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3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Site-level data isolation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2651760" y="4142232"/>
            <a:ext cx="91440" cy="91440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816352" y="4096512"/>
            <a:ext cx="1508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3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Audit-ready access logs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617720" y="1097280"/>
            <a:ext cx="1965960" cy="3749040"/>
          </a:xfrm>
          <a:prstGeom prst="rect">
            <a:avLst/>
          </a:prstGeom>
          <a:solidFill>
            <a:srgbClr val="F0F9FF"/>
          </a:solidFill>
          <a:ln w="15240">
            <a:solidFill>
              <a:srgbClr val="DBEAFE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617720" y="1097280"/>
            <a:ext cx="1965960" cy="7315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216652" y="1298448"/>
            <a:ext cx="768096" cy="768096"/>
          </a:xfrm>
          <a:prstGeom prst="ellipse">
            <a:avLst/>
          </a:prstGeom>
          <a:solidFill>
            <a:srgbClr val="7C3AED">
              <a:alpha val="80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216652" y="1298448"/>
            <a:ext cx="768096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🛢</a:t>
            </a:r>
            <a:endParaRPr lang="en-US" sz="2200" dirty="0"/>
          </a:p>
        </p:txBody>
      </p:sp>
      <p:sp>
        <p:nvSpPr>
          <p:cNvPr id="35" name="Text 33"/>
          <p:cNvSpPr/>
          <p:nvPr/>
        </p:nvSpPr>
        <p:spPr>
          <a:xfrm>
            <a:off x="4709160" y="219456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3A4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MongoDB Scalability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4800600" y="2880360"/>
            <a:ext cx="91440" cy="9144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965192" y="2834640"/>
            <a:ext cx="1508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3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Horizontal sharding support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4800600" y="3300984"/>
            <a:ext cx="91440" cy="9144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965192" y="3255264"/>
            <a:ext cx="1508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3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Indexed queries for speed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4800600" y="3721608"/>
            <a:ext cx="91440" cy="9144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965192" y="3675888"/>
            <a:ext cx="1508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3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Geospatial data indexing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4800600" y="4142232"/>
            <a:ext cx="91440" cy="9144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965192" y="4096512"/>
            <a:ext cx="1508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3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cloud backups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6766560" y="1097280"/>
            <a:ext cx="1965960" cy="3749040"/>
          </a:xfrm>
          <a:prstGeom prst="rect">
            <a:avLst/>
          </a:prstGeom>
          <a:solidFill>
            <a:srgbClr val="F0F9FF"/>
          </a:solidFill>
          <a:ln w="15240">
            <a:solidFill>
              <a:srgbClr val="DBEAFE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6766560" y="1097280"/>
            <a:ext cx="1965960" cy="7315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7365492" y="1298448"/>
            <a:ext cx="768096" cy="768096"/>
          </a:xfrm>
          <a:prstGeom prst="ellipse">
            <a:avLst/>
          </a:prstGeom>
          <a:solidFill>
            <a:srgbClr val="D97706">
              <a:alpha val="80000"/>
            </a:srgbClr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7365492" y="1298448"/>
            <a:ext cx="768096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📡</a:t>
            </a:r>
            <a:endParaRPr lang="en-US" sz="2200" dirty="0"/>
          </a:p>
        </p:txBody>
      </p:sp>
      <p:sp>
        <p:nvSpPr>
          <p:cNvPr id="48" name="Text 46"/>
          <p:cNvSpPr/>
          <p:nvPr/>
        </p:nvSpPr>
        <p:spPr>
          <a:xfrm>
            <a:off x="6858000" y="219456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3A4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MQTT IoT Protocol</a:t>
            </a:r>
            <a:endParaRPr lang="en-US" sz="1200" dirty="0"/>
          </a:p>
        </p:txBody>
      </p:sp>
      <p:sp>
        <p:nvSpPr>
          <p:cNvPr id="49" name="Shape 47"/>
          <p:cNvSpPr/>
          <p:nvPr/>
        </p:nvSpPr>
        <p:spPr>
          <a:xfrm>
            <a:off x="6949440" y="2880360"/>
            <a:ext cx="91440" cy="91440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7114032" y="2834640"/>
            <a:ext cx="1508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3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Lightweight pub/sub protocol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6949440" y="3300984"/>
            <a:ext cx="91440" cy="91440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7114032" y="3255264"/>
            <a:ext cx="1508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3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Handles thousands of sensors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6949440" y="3721608"/>
            <a:ext cx="91440" cy="91440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7114032" y="3675888"/>
            <a:ext cx="1508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3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Quality-of-service levels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6949440" y="4142232"/>
            <a:ext cx="91440" cy="91440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7114032" y="4096512"/>
            <a:ext cx="1508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3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Encrypted broker connections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21B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BUSINESS VALUE &amp; ROI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Measurable impact from day one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20040" y="1234440"/>
            <a:ext cx="2651760" cy="1691640"/>
          </a:xfrm>
          <a:prstGeom prst="rect">
            <a:avLst/>
          </a:prstGeom>
          <a:solidFill>
            <a:srgbClr val="065A82">
              <a:alpha val="50000"/>
            </a:srgbClr>
          </a:solidFill>
          <a:ln w="19050">
            <a:solidFill>
              <a:srgbClr val="02C39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234440"/>
            <a:ext cx="2651760" cy="6400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325880"/>
            <a:ext cx="2651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02C39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40%</a:t>
            </a:r>
            <a:endParaRPr lang="en-US" sz="4800" dirty="0"/>
          </a:p>
        </p:txBody>
      </p:sp>
      <p:sp>
        <p:nvSpPr>
          <p:cNvPr id="8" name="Text 6"/>
          <p:cNvSpPr/>
          <p:nvPr/>
        </p:nvSpPr>
        <p:spPr>
          <a:xfrm>
            <a:off x="411480" y="2112264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Reduction in fuel losses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11480" y="246888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A8D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Through real-time anomaly detection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46120" y="1234440"/>
            <a:ext cx="2651760" cy="1691640"/>
          </a:xfrm>
          <a:prstGeom prst="rect">
            <a:avLst/>
          </a:prstGeom>
          <a:solidFill>
            <a:srgbClr val="065A82">
              <a:alpha val="50000"/>
            </a:srgbClr>
          </a:solidFill>
          <a:ln w="19050">
            <a:solidFill>
              <a:srgbClr val="0891B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46120" y="1234440"/>
            <a:ext cx="2651760" cy="6400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46120" y="1325880"/>
            <a:ext cx="2651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0891B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99.9%</a:t>
            </a:r>
            <a:endParaRPr lang="en-US" sz="4800" dirty="0"/>
          </a:p>
        </p:txBody>
      </p:sp>
      <p:sp>
        <p:nvSpPr>
          <p:cNvPr id="13" name="Text 11"/>
          <p:cNvSpPr/>
          <p:nvPr/>
        </p:nvSpPr>
        <p:spPr>
          <a:xfrm>
            <a:off x="3337560" y="2112264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uptime SLA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337560" y="246888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A8D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Guaranteed availability commitment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172200" y="1234440"/>
            <a:ext cx="2651760" cy="1691640"/>
          </a:xfrm>
          <a:prstGeom prst="rect">
            <a:avLst/>
          </a:prstGeom>
          <a:solidFill>
            <a:srgbClr val="065A82">
              <a:alpha val="50000"/>
            </a:srgbClr>
          </a:solidFill>
          <a:ln w="19050">
            <a:solidFill>
              <a:srgbClr val="7C3AE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172200" y="1234440"/>
            <a:ext cx="2651760" cy="6400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172200" y="1325880"/>
            <a:ext cx="2651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7C3AE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&lt;2s</a:t>
            </a:r>
            <a:endParaRPr lang="en-US" sz="4800" dirty="0"/>
          </a:p>
        </p:txBody>
      </p:sp>
      <p:sp>
        <p:nvSpPr>
          <p:cNvPr id="18" name="Text 16"/>
          <p:cNvSpPr/>
          <p:nvPr/>
        </p:nvSpPr>
        <p:spPr>
          <a:xfrm>
            <a:off x="6263640" y="2112264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data latency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263640" y="246888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A8D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sensor to dashboard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20040" y="3108960"/>
            <a:ext cx="2651760" cy="1691640"/>
          </a:xfrm>
          <a:prstGeom prst="rect">
            <a:avLst/>
          </a:prstGeom>
          <a:solidFill>
            <a:srgbClr val="065A82">
              <a:alpha val="50000"/>
            </a:srgbClr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20040" y="3108960"/>
            <a:ext cx="2651760" cy="640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0040" y="3200400"/>
            <a:ext cx="2651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3×</a:t>
            </a:r>
            <a:endParaRPr lang="en-US" sz="4800" dirty="0"/>
          </a:p>
        </p:txBody>
      </p:sp>
      <p:sp>
        <p:nvSpPr>
          <p:cNvPr id="23" name="Text 21"/>
          <p:cNvSpPr/>
          <p:nvPr/>
        </p:nvSpPr>
        <p:spPr>
          <a:xfrm>
            <a:off x="411480" y="3986784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incident response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11480" y="434340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A8D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Vs. manual monitoring methods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246120" y="3108960"/>
            <a:ext cx="2651760" cy="1691640"/>
          </a:xfrm>
          <a:prstGeom prst="rect">
            <a:avLst/>
          </a:prstGeom>
          <a:solidFill>
            <a:srgbClr val="065A82">
              <a:alpha val="50000"/>
            </a:srgbClr>
          </a:solidFill>
          <a:ln w="19050">
            <a:solidFill>
              <a:srgbClr val="EF4444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246120" y="3108960"/>
            <a:ext cx="2651760" cy="6400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246120" y="3200400"/>
            <a:ext cx="2651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EF444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60%</a:t>
            </a:r>
            <a:endParaRPr lang="en-US" sz="4800" dirty="0"/>
          </a:p>
        </p:txBody>
      </p:sp>
      <p:sp>
        <p:nvSpPr>
          <p:cNvPr id="28" name="Text 26"/>
          <p:cNvSpPr/>
          <p:nvPr/>
        </p:nvSpPr>
        <p:spPr>
          <a:xfrm>
            <a:off x="3337560" y="3986784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Reduction in manual work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3337560" y="434340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A8D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reports and alerts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172200" y="3108960"/>
            <a:ext cx="2651760" cy="1691640"/>
          </a:xfrm>
          <a:prstGeom prst="rect">
            <a:avLst/>
          </a:prstGeom>
          <a:solidFill>
            <a:srgbClr val="065A82">
              <a:alpha val="50000"/>
            </a:srgbClr>
          </a:solidFill>
          <a:ln w="19050">
            <a:solidFill>
              <a:srgbClr val="02C39A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172200" y="3108960"/>
            <a:ext cx="2651760" cy="6400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172200" y="3200400"/>
            <a:ext cx="2651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02C39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∞</a:t>
            </a:r>
            <a:endParaRPr lang="en-US" sz="4800" dirty="0"/>
          </a:p>
        </p:txBody>
      </p:sp>
      <p:sp>
        <p:nvSpPr>
          <p:cNvPr id="33" name="Text 31"/>
          <p:cNvSpPr/>
          <p:nvPr/>
        </p:nvSpPr>
        <p:spPr>
          <a:xfrm>
            <a:off x="6263640" y="3986784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Sites supported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6263640" y="434340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A8D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Scales from 1 to enterprise-wide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F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21B2C"/>
          </a:solidFill>
          <a:ln w="12700">
            <a:solidFill>
              <a:srgbClr val="021B2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PRICING PLANS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lIns="177800" tIns="177800" rIns="177800" bIns="17780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Flexible tiers for every operation size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20040" y="1234440"/>
            <a:ext cx="265176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234440"/>
            <a:ext cx="2651760" cy="6400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29768" y="1435608"/>
            <a:ext cx="24323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3A4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Starter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29768" y="1856232"/>
            <a:ext cx="243230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0891B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$49</a:t>
            </a:r>
            <a:endParaRPr lang="en-US" sz="3800" dirty="0"/>
          </a:p>
        </p:txBody>
      </p:sp>
      <p:sp>
        <p:nvSpPr>
          <p:cNvPr id="9" name="Text 7"/>
          <p:cNvSpPr/>
          <p:nvPr/>
        </p:nvSpPr>
        <p:spPr>
          <a:xfrm>
            <a:off x="429768" y="2468880"/>
            <a:ext cx="24323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/month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94360" y="2807208"/>
            <a:ext cx="2103120" cy="0"/>
          </a:xfrm>
          <a:prstGeom prst="line">
            <a:avLst/>
          </a:prstGeom>
          <a:noFill/>
          <a:ln w="12700">
            <a:solidFill>
              <a:srgbClr val="DBEAF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" y="2953512"/>
            <a:ext cx="128016" cy="128016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58952" y="2916936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3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to 5 sites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8640" y="3264408"/>
            <a:ext cx="128016" cy="128016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58952" y="3227832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3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sensor connections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48640" y="3575304"/>
            <a:ext cx="128016" cy="128016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58952" y="3538728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3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dashboard access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48640" y="3886200"/>
            <a:ext cx="128016" cy="128016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58952" y="3849624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3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alerts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48640" y="4197096"/>
            <a:ext cx="128016" cy="128016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58952" y="416052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3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7-day data history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48640" y="4507992"/>
            <a:ext cx="128016" cy="128016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58952" y="4471416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3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 support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108960" y="960120"/>
            <a:ext cx="2743200" cy="4069080"/>
          </a:xfrm>
          <a:prstGeom prst="rect">
            <a:avLst/>
          </a:prstGeom>
          <a:solidFill>
            <a:srgbClr val="02C39A">
              <a:alpha val="25000"/>
            </a:srgbClr>
          </a:solidFill>
          <a:ln w="31750">
            <a:solidFill>
              <a:srgbClr val="02C39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154680" y="1005840"/>
            <a:ext cx="2651760" cy="3977640"/>
          </a:xfrm>
          <a:prstGeom prst="rect">
            <a:avLst/>
          </a:prstGeom>
          <a:solidFill>
            <a:srgbClr val="FFFFFF"/>
          </a:solidFill>
          <a:ln w="25400">
            <a:solidFill>
              <a:srgbClr val="02C39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154680" y="1005840"/>
            <a:ext cx="2651760" cy="6400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657600" y="841248"/>
            <a:ext cx="1645920" cy="29260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0" y="841248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21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 MOST POPULAR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3264408" y="1207008"/>
            <a:ext cx="24323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3A4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Professional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3264408" y="1627632"/>
            <a:ext cx="243230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02C39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$149</a:t>
            </a:r>
            <a:endParaRPr lang="en-US" sz="3800" dirty="0"/>
          </a:p>
        </p:txBody>
      </p:sp>
      <p:sp>
        <p:nvSpPr>
          <p:cNvPr id="30" name="Text 28"/>
          <p:cNvSpPr/>
          <p:nvPr/>
        </p:nvSpPr>
        <p:spPr>
          <a:xfrm>
            <a:off x="3264408" y="2240280"/>
            <a:ext cx="24323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/month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29000" y="2578608"/>
            <a:ext cx="2103120" cy="0"/>
          </a:xfrm>
          <a:prstGeom prst="line">
            <a:avLst/>
          </a:prstGeom>
          <a:noFill/>
          <a:ln w="12700">
            <a:solidFill>
              <a:srgbClr val="DBEAFE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383280" y="2724912"/>
            <a:ext cx="128016" cy="128016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593592" y="2688336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3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to 50 sites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3383280" y="3035808"/>
            <a:ext cx="128016" cy="128016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593592" y="2999232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3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sensor connections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3383280" y="3346704"/>
            <a:ext cx="128016" cy="128016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593592" y="3310128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3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+ Mobile apps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3383280" y="3657600"/>
            <a:ext cx="128016" cy="128016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593592" y="3621024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3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SMS &amp; push alerts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3383280" y="3968496"/>
            <a:ext cx="128016" cy="128016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593592" y="393192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3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1-year data history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3383280" y="4279392"/>
            <a:ext cx="128016" cy="128016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593592" y="4242816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3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report export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3383280" y="4590288"/>
            <a:ext cx="128016" cy="128016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593592" y="4553712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3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support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5989320" y="1234440"/>
            <a:ext cx="265176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5989320" y="1234440"/>
            <a:ext cx="2651760" cy="6400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099048" y="1435608"/>
            <a:ext cx="24323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3A4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Enterprise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6099048" y="1856232"/>
            <a:ext cx="243230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7C3AE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Custom</a:t>
            </a:r>
            <a:endParaRPr lang="en-US" sz="3800" dirty="0"/>
          </a:p>
        </p:txBody>
      </p:sp>
      <p:sp>
        <p:nvSpPr>
          <p:cNvPr id="50" name="Text 48"/>
          <p:cNvSpPr/>
          <p:nvPr/>
        </p:nvSpPr>
        <p:spPr>
          <a:xfrm>
            <a:off x="6099048" y="2468880"/>
            <a:ext cx="24323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pricing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6263640" y="2807208"/>
            <a:ext cx="2103120" cy="0"/>
          </a:xfrm>
          <a:prstGeom prst="line">
            <a:avLst/>
          </a:prstGeom>
          <a:noFill/>
          <a:ln w="12700">
            <a:solidFill>
              <a:srgbClr val="DBEAFE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6217920" y="2953512"/>
            <a:ext cx="128016" cy="128016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428232" y="2916936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3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Unlimited sites</a:t>
            </a:r>
            <a:endParaRPr lang="en-US" sz="1100" dirty="0"/>
          </a:p>
        </p:txBody>
      </p:sp>
      <p:sp>
        <p:nvSpPr>
          <p:cNvPr id="54" name="Shape 52"/>
          <p:cNvSpPr/>
          <p:nvPr/>
        </p:nvSpPr>
        <p:spPr>
          <a:xfrm>
            <a:off x="6217920" y="3264408"/>
            <a:ext cx="128016" cy="128016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428232" y="3227832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3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Unlimited sensors</a:t>
            </a:r>
            <a:endParaRPr lang="en-US" sz="1100" dirty="0"/>
          </a:p>
        </p:txBody>
      </p:sp>
      <p:sp>
        <p:nvSpPr>
          <p:cNvPr id="56" name="Shape 54"/>
          <p:cNvSpPr/>
          <p:nvPr/>
        </p:nvSpPr>
        <p:spPr>
          <a:xfrm>
            <a:off x="6217920" y="3575304"/>
            <a:ext cx="128016" cy="128016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6428232" y="3538728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3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platforms + API</a:t>
            </a:r>
            <a:endParaRPr lang="en-US" sz="1100" dirty="0"/>
          </a:p>
        </p:txBody>
      </p:sp>
      <p:sp>
        <p:nvSpPr>
          <p:cNvPr id="58" name="Shape 56"/>
          <p:cNvSpPr/>
          <p:nvPr/>
        </p:nvSpPr>
        <p:spPr>
          <a:xfrm>
            <a:off x="6217920" y="3886200"/>
            <a:ext cx="128016" cy="128016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6428232" y="3849624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3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role management</a:t>
            </a:r>
            <a:endParaRPr lang="en-US" sz="1100" dirty="0"/>
          </a:p>
        </p:txBody>
      </p:sp>
      <p:sp>
        <p:nvSpPr>
          <p:cNvPr id="60" name="Shape 58"/>
          <p:cNvSpPr/>
          <p:nvPr/>
        </p:nvSpPr>
        <p:spPr>
          <a:xfrm>
            <a:off x="6217920" y="4197096"/>
            <a:ext cx="128016" cy="128016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6428232" y="416052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3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Unlimited data history</a:t>
            </a:r>
            <a:endParaRPr lang="en-US" sz="1100" dirty="0"/>
          </a:p>
        </p:txBody>
      </p:sp>
      <p:sp>
        <p:nvSpPr>
          <p:cNvPr id="62" name="Shape 60"/>
          <p:cNvSpPr/>
          <p:nvPr/>
        </p:nvSpPr>
        <p:spPr>
          <a:xfrm>
            <a:off x="6217920" y="4507992"/>
            <a:ext cx="128016" cy="128016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6428232" y="4471416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3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integrations</a:t>
            </a:r>
            <a:endParaRPr lang="en-US" sz="1100" dirty="0"/>
          </a:p>
        </p:txBody>
      </p:sp>
      <p:sp>
        <p:nvSpPr>
          <p:cNvPr id="64" name="Shape 62"/>
          <p:cNvSpPr/>
          <p:nvPr/>
        </p:nvSpPr>
        <p:spPr>
          <a:xfrm>
            <a:off x="6217920" y="4818888"/>
            <a:ext cx="128016" cy="128016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6428232" y="4782312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3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Dedicated SLA &amp; support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21B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914400" y="-731520"/>
            <a:ext cx="4114800" cy="4114800"/>
          </a:xfrm>
          <a:prstGeom prst="ellipse">
            <a:avLst/>
          </a:prstGeom>
          <a:solidFill>
            <a:srgbClr val="065A82">
              <a:alpha val="40000"/>
            </a:srgbClr>
          </a:solidFill>
          <a:ln w="12700">
            <a:solidFill>
              <a:srgbClr val="065A82">
                <a:alpha val="4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0" y="2560320"/>
            <a:ext cx="3200400" cy="3200400"/>
          </a:xfrm>
          <a:prstGeom prst="ellipse">
            <a:avLst/>
          </a:prstGeom>
          <a:solidFill>
            <a:srgbClr val="02C39A">
              <a:alpha val="22000"/>
            </a:srgbClr>
          </a:solidFill>
          <a:ln w="12700">
            <a:solidFill>
              <a:srgbClr val="02C39A">
                <a:alpha val="22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502920"/>
            <a:ext cx="7772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Ready to Transform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731520" y="1234440"/>
            <a:ext cx="7772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2C39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Your Operations?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1371600" y="210312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A8D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 leading fuel &amp; tank operators already using Smart-Gridix to cut costs, prevent losses, and gain complete operational visibility.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017520" y="3063240"/>
            <a:ext cx="3108960" cy="56692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017520" y="3063240"/>
            <a:ext cx="31089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21B2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▶  REQUEST A FREE DEMO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7200" y="416052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8D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 www.smart-gridix.com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291840" y="416052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8D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✉  hello@smart-gridix.com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126480" y="416052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8D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📞  +1 (800) GRIDIX-0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0" y="4754880"/>
            <a:ext cx="9144000" cy="33832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0" y="4754880"/>
            <a:ext cx="914400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2025 Smart-Gridix  ·  Intelligent Fuel &amp; Tank Management  ·  All Rights Reserved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Smart-Gridix Commercial Presentation</dc:title>
  <dc:subject>PptxGenJS Presentation</dc:subject>
  <dc:creator>Smart-Gridix</dc:creator>
  <cp:lastModifiedBy>Smart-Gridix</cp:lastModifiedBy>
  <cp:revision>1</cp:revision>
  <dcterms:created xsi:type="dcterms:W3CDTF">2026-03-31T11:37:02Z</dcterms:created>
  <dcterms:modified xsi:type="dcterms:W3CDTF">2026-03-31T11:37:02Z</dcterms:modified>
</cp:coreProperties>
</file>